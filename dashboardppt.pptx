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9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72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70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45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9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49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95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98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32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06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26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F1B9A-15DB-477C-9446-CDC3481258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688C3-63C3-4DC5-A081-7DF75AFC37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08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0891"/>
            <a:ext cx="9753600" cy="290907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4217" y="4259418"/>
            <a:ext cx="10215154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Student Productivity &amp;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Behaviour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Analysis</a:t>
            </a:r>
            <a:b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Subtitle: Insights from 20,000 Students – Impact of Gaming, Phone Usage, Social Media, Sleep &amp; More  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                                                                                                     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anose="020B0A04020102020204" pitchFamily="34" charset="0"/>
              </a:rPr>
              <a:t> Presented by                                                                            </a:t>
            </a:r>
            <a:r>
              <a:rPr lang="en-US" altLang="en-US" sz="18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                                                                                                                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anose="020B0A040201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anose="020B0A040201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anose="020B0A04020102020204" pitchFamily="34" charset="0"/>
              </a:rPr>
              <a:t>                                                                                                    </a:t>
            </a:r>
            <a:r>
              <a:rPr lang="en-US" altLang="en-US" sz="1800" dirty="0" err="1">
                <a:solidFill>
                  <a:srgbClr val="002060"/>
                </a:solidFill>
                <a:latin typeface="Arial Black" panose="020B0A04020102020204" pitchFamily="34" charset="0"/>
              </a:rPr>
              <a:t>M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anose="020B0A04020102020204" pitchFamily="34" charset="0"/>
              </a:rPr>
              <a:t>ogulla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en-US" altLang="en-US" sz="1800" dirty="0" err="1">
                <a:solidFill>
                  <a:srgbClr val="002060"/>
                </a:solidFill>
                <a:latin typeface="Arial Black" panose="020B0A04020102020204" pitchFamily="34" charset="0"/>
              </a:rPr>
              <a:t>S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Arial Black" panose="020B0A04020102020204" pitchFamily="34" charset="0"/>
              </a:rPr>
              <a:t>owmya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                                                              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628763"/>
            <a:ext cx="9753600" cy="307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08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                        </a:t>
            </a:r>
            <a:r>
              <a:rPr lang="en-US" sz="4800" b="1" dirty="0" smtClean="0"/>
              <a:t>objective</a:t>
            </a:r>
            <a:endParaRPr lang="en-IN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664337" cy="1897289"/>
          </a:xfrm>
        </p:spPr>
        <p:txBody>
          <a:bodyPr>
            <a:normAutofit/>
          </a:bodyPr>
          <a:lstStyle/>
          <a:p>
            <a:r>
              <a:rPr lang="en-US" sz="2400" dirty="0"/>
              <a:t>This dashboard provides a comprehensive overview of student productivity, </a:t>
            </a:r>
            <a:r>
              <a:rPr lang="en-US" sz="2400" dirty="0" err="1"/>
              <a:t>behaviour</a:t>
            </a:r>
            <a:r>
              <a:rPr lang="en-US" sz="2400" dirty="0"/>
              <a:t>, and academic performance</a:t>
            </a:r>
            <a:r>
              <a:rPr lang="en-US" sz="2400" dirty="0" smtClean="0"/>
              <a:t>.</a:t>
            </a:r>
            <a:r>
              <a:rPr lang="en-US" sz="2400" dirty="0"/>
              <a:t> Examine how </a:t>
            </a:r>
            <a:r>
              <a:rPr lang="en-US" sz="2400" dirty="0" err="1"/>
              <a:t>behaviours</a:t>
            </a:r>
            <a:r>
              <a:rPr lang="en-US" sz="2400" dirty="0"/>
              <a:t> such as social media usage, phone habits, and attendance influence student productivity and final grades.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2353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26" y="431074"/>
            <a:ext cx="11192913" cy="5956664"/>
          </a:xfrm>
        </p:spPr>
      </p:pic>
    </p:spTree>
    <p:extLst>
      <p:ext uri="{BB962C8B-B14F-4D97-AF65-F5344CB8AC3E}">
        <p14:creationId xmlns:p14="http://schemas.microsoft.com/office/powerpoint/2010/main" val="2468209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815251" cy="1325563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FF0000"/>
                </a:solidFill>
                <a:effectLst/>
              </a:rPr>
              <a:t>Dataset Snapshot</a:t>
            </a:r>
            <a:endParaRPr lang="en-IN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5577" y="2353195"/>
            <a:ext cx="1067235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20,000 students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variables : age, gender,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study_hours_per_day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sleep_hours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phone_usage_hours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social_media_hours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gaming_hours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breaks_per_day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exercise_minutes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stress_level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focus_score,productivity_score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final_grade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attendance_percentage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230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9086" y="365126"/>
            <a:ext cx="10504714" cy="1202418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accent2">
                    <a:lumMod val="50000"/>
                  </a:schemeClr>
                </a:solidFill>
                <a:latin typeface="+mn-lt"/>
              </a:rPr>
              <a:t>visualizations</a:t>
            </a:r>
            <a:endParaRPr lang="en-IN" sz="4000" dirty="0">
              <a:solidFill>
                <a:schemeClr val="accent2">
                  <a:lumMod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567543"/>
            <a:ext cx="11351622" cy="4885508"/>
          </a:xfrm>
        </p:spPr>
        <p:txBody>
          <a:bodyPr/>
          <a:lstStyle/>
          <a:p>
            <a:r>
              <a:rPr lang="en-US" sz="2000" dirty="0"/>
              <a:t>Big number: </a:t>
            </a:r>
            <a:r>
              <a:rPr lang="en-US" sz="2000" dirty="0" smtClean="0"/>
              <a:t>20K</a:t>
            </a:r>
          </a:p>
          <a:p>
            <a:r>
              <a:rPr lang="en-US" sz="2000" dirty="0" smtClean="0"/>
              <a:t>Total </a:t>
            </a:r>
            <a:r>
              <a:rPr lang="en-US" sz="2000" dirty="0"/>
              <a:t>number of students in the </a:t>
            </a:r>
            <a:r>
              <a:rPr lang="en-US" sz="2000" dirty="0" err="1"/>
              <a:t>datasetOverall</a:t>
            </a:r>
            <a:r>
              <a:rPr lang="en-US" sz="2000" dirty="0"/>
              <a:t> scale of the analysis≈20,000 </a:t>
            </a:r>
            <a:r>
              <a:rPr lang="en-US" sz="2000" dirty="0" smtClean="0"/>
              <a:t>students</a:t>
            </a:r>
          </a:p>
          <a:p>
            <a:r>
              <a:rPr lang="en-US" b="1" dirty="0"/>
              <a:t>Donut / Pie chart</a:t>
            </a:r>
            <a:r>
              <a:rPr lang="en-US" dirty="0"/>
              <a:t>: </a:t>
            </a:r>
            <a:r>
              <a:rPr lang="en-US" sz="2000" dirty="0"/>
              <a:t>Sum of </a:t>
            </a:r>
            <a:r>
              <a:rPr lang="en-US" sz="2000" dirty="0" err="1"/>
              <a:t>productivity_score</a:t>
            </a:r>
            <a:r>
              <a:rPr lang="en-US" sz="2000" dirty="0"/>
              <a:t> by </a:t>
            </a:r>
            <a:r>
              <a:rPr lang="en-US" sz="2000" dirty="0" err="1"/>
              <a:t>genderTotal</a:t>
            </a:r>
            <a:r>
              <a:rPr lang="en-US" sz="2000" dirty="0"/>
              <a:t> productivity score summed and split by gender </a:t>
            </a:r>
            <a:r>
              <a:rPr lang="en-US" sz="2000" dirty="0" smtClean="0"/>
              <a:t>category Which </a:t>
            </a:r>
            <a:r>
              <a:rPr lang="en-US" sz="2000" dirty="0"/>
              <a:t>gender contributes most to the total productivity score in the </a:t>
            </a:r>
            <a:r>
              <a:rPr lang="en-US" sz="2000" dirty="0" smtClean="0"/>
              <a:t>dataset male </a:t>
            </a:r>
            <a:r>
              <a:rPr lang="en-US" sz="2000" dirty="0"/>
              <a:t>≈ 481.63K (48%) </a:t>
            </a:r>
            <a:r>
              <a:rPr lang="en-US" sz="2000" dirty="0" smtClean="0"/>
              <a:t>other≈ </a:t>
            </a:r>
            <a:r>
              <a:rPr lang="en-US" sz="2000" dirty="0"/>
              <a:t>38.98K (3.9%) </a:t>
            </a:r>
            <a:r>
              <a:rPr lang="en-US" sz="2000" dirty="0" smtClean="0"/>
              <a:t>,female </a:t>
            </a:r>
            <a:r>
              <a:rPr lang="en-US" sz="2000" dirty="0"/>
              <a:t>≈ 483K (48.1%) → Very unusual distribution (Other almost = Female</a:t>
            </a:r>
            <a:r>
              <a:rPr lang="en-US" sz="2000" dirty="0" smtClean="0"/>
              <a:t>)</a:t>
            </a:r>
            <a:endParaRPr lang="en-US" sz="2000" dirty="0"/>
          </a:p>
          <a:p>
            <a:endParaRPr lang="en-US" dirty="0"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54" y="4193177"/>
            <a:ext cx="5302587" cy="174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32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65674" cy="1372235"/>
          </a:xfrm>
        </p:spPr>
        <p:txBody>
          <a:bodyPr>
            <a:normAutofit/>
          </a:bodyPr>
          <a:lstStyle/>
          <a:p>
            <a:r>
              <a:rPr lang="en-US" sz="2400" dirty="0" smtClean="0"/>
              <a:t>         </a:t>
            </a:r>
            <a:r>
              <a:rPr lang="en-US" sz="2800" b="1" dirty="0" smtClean="0">
                <a:solidFill>
                  <a:srgbClr val="C00000"/>
                </a:solidFill>
              </a:rPr>
              <a:t>Showing values of </a:t>
            </a:r>
            <a:r>
              <a:rPr lang="en-US" sz="2800" b="1" dirty="0">
                <a:solidFill>
                  <a:srgbClr val="C00000"/>
                </a:solidFill>
              </a:rPr>
              <a:t>exercise minutes and stress level </a:t>
            </a:r>
            <a:r>
              <a:rPr lang="en-US" sz="2800" b="1" dirty="0" smtClean="0">
                <a:solidFill>
                  <a:srgbClr val="C00000"/>
                </a:solidFill>
              </a:rPr>
              <a:t>according to    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        student </a:t>
            </a:r>
            <a:r>
              <a:rPr lang="en-US" sz="2400" b="1" dirty="0" smtClean="0">
                <a:solidFill>
                  <a:srgbClr val="C00000"/>
                </a:solidFill>
              </a:rPr>
              <a:t>id </a:t>
            </a:r>
            <a:endParaRPr lang="en-US" sz="2400" b="1" dirty="0">
              <a:solidFill>
                <a:srgbClr val="C00000"/>
              </a:solidFill>
              <a:effectLst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954" y="2487522"/>
            <a:ext cx="3503110" cy="2228169"/>
          </a:xfrm>
        </p:spPr>
      </p:pic>
    </p:spTree>
    <p:extLst>
      <p:ext uri="{BB962C8B-B14F-4D97-AF65-F5344CB8AC3E}">
        <p14:creationId xmlns:p14="http://schemas.microsoft.com/office/powerpoint/2010/main" val="438213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Bar chart: Average of </a:t>
            </a:r>
            <a:r>
              <a:rPr lang="en-US" sz="2800" b="1" dirty="0" smtClean="0">
                <a:solidFill>
                  <a:srgbClr val="FF0000"/>
                </a:solidFill>
              </a:rPr>
              <a:t>final _ grade </a:t>
            </a:r>
            <a:r>
              <a:rPr lang="en-US" sz="2800" b="1" dirty="0">
                <a:solidFill>
                  <a:srgbClr val="FF0000"/>
                </a:solidFill>
              </a:rPr>
              <a:t>by </a:t>
            </a:r>
            <a:r>
              <a:rPr lang="en-US" sz="2800" b="1" dirty="0" smtClean="0">
                <a:solidFill>
                  <a:srgbClr val="FF0000"/>
                </a:solidFill>
              </a:rPr>
              <a:t>attendance _ percentage </a:t>
            </a:r>
            <a:r>
              <a:rPr lang="en-US" sz="2800" b="1" dirty="0">
                <a:solidFill>
                  <a:srgbClr val="FF0000"/>
                </a:solidFill>
              </a:rPr>
              <a:t>bins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766" y="1825625"/>
            <a:ext cx="544503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Displays being in class and academic success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  <a:effectLst/>
              </a:rPr>
              <a:t>X- axis(Categories): </a:t>
            </a:r>
            <a:r>
              <a:rPr lang="en-US" dirty="0" smtClean="0">
                <a:effectLst/>
              </a:rPr>
              <a:t>the data is grouped into “bins” representing ranges of attendance percentages</a:t>
            </a:r>
            <a:br>
              <a:rPr lang="en-US" dirty="0" smtClean="0">
                <a:effectLst/>
              </a:rPr>
            </a:br>
            <a:r>
              <a:rPr lang="en-US" dirty="0" smtClean="0">
                <a:solidFill>
                  <a:srgbClr val="00B050"/>
                </a:solidFill>
                <a:effectLst/>
              </a:rPr>
              <a:t>y-axis(measurement): </a:t>
            </a:r>
            <a:r>
              <a:rPr lang="en-US" dirty="0" smtClean="0">
                <a:effectLst/>
              </a:rPr>
              <a:t>The height of each bar represents the average final grade for students within that attendance range</a:t>
            </a:r>
            <a:br>
              <a:rPr lang="en-US" dirty="0" smtClean="0">
                <a:effectLst/>
              </a:rPr>
            </a:br>
            <a:r>
              <a:rPr lang="en-US" dirty="0" smtClean="0">
                <a:effectLst/>
              </a:rPr>
              <a:t/>
            </a:r>
            <a:br>
              <a:rPr lang="en-US" dirty="0" smtClean="0">
                <a:effectLst/>
              </a:rPr>
            </a:br>
            <a:endParaRPr lang="en-US" dirty="0" smtClean="0">
              <a:effectLst/>
            </a:endParaRPr>
          </a:p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459" y="2338251"/>
            <a:ext cx="5391931" cy="2795452"/>
          </a:xfrm>
        </p:spPr>
      </p:pic>
    </p:spTree>
    <p:extLst>
      <p:ext uri="{BB962C8B-B14F-4D97-AF65-F5344CB8AC3E}">
        <p14:creationId xmlns:p14="http://schemas.microsoft.com/office/powerpoint/2010/main" val="9463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effectLst/>
              </a:rPr>
              <a:t>Focus Score Categories by Phone &amp; Gaming Levels</a:t>
            </a:r>
            <a:br>
              <a:rPr lang="en-US" dirty="0" smtClean="0">
                <a:effectLst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Key visual: Your bar chart (Heavy Phone, Moderate Phone, Light Phone) with color-coded tiers (Below </a:t>
            </a:r>
            <a:r>
              <a:rPr lang="en-IN" sz="2400" dirty="0" err="1" smtClean="0"/>
              <a:t>Avg</a:t>
            </a:r>
            <a:r>
              <a:rPr lang="en-IN" sz="2400" dirty="0" smtClean="0"/>
              <a:t>, Good, Excellent)</a:t>
            </a:r>
          </a:p>
          <a:p>
            <a:r>
              <a:rPr lang="en-IN" sz="2400" dirty="0" smtClean="0"/>
              <a:t>Insight:</a:t>
            </a:r>
          </a:p>
          <a:p>
            <a:pPr lvl="1"/>
            <a:r>
              <a:rPr lang="en-IN" dirty="0" smtClean="0"/>
              <a:t>Heavy phone (&gt;6h) → lowest average focus</a:t>
            </a:r>
          </a:p>
          <a:p>
            <a:pPr lvl="1"/>
            <a:r>
              <a:rPr lang="en-IN" dirty="0" smtClean="0"/>
              <a:t>Light phone (&lt;3h) → highest focus, especially with light gaming</a:t>
            </a:r>
          </a:p>
          <a:p>
            <a:r>
              <a:rPr lang="en-IN" sz="2400" dirty="0" smtClean="0"/>
              <a:t>Visual: Clustered bars + annotations on worst/best combos</a:t>
            </a:r>
          </a:p>
          <a:p>
            <a:pPr marL="0" indent="0">
              <a:buNone/>
            </a:pPr>
            <a:endParaRPr lang="en-IN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77688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600" b="1" dirty="0" smtClean="0"/>
              <a:t>Horizontal </a:t>
            </a:r>
            <a:r>
              <a:rPr lang="en-US" sz="3600" b="1" dirty="0"/>
              <a:t>bar chart: Count of Gaming Level Column by Phone Level + Focus score Category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Number </a:t>
            </a:r>
            <a:r>
              <a:rPr lang="en-US" sz="2400" dirty="0"/>
              <a:t>of students in different combinations of Gaming level × Focus score category (probably colored by focus level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Relationship </a:t>
            </a:r>
            <a:r>
              <a:rPr lang="en-US" sz="2400" dirty="0"/>
              <a:t>between gaming intensity, phone usage level, and ability to </a:t>
            </a:r>
            <a:r>
              <a:rPr lang="en-US" sz="2400" dirty="0" smtClean="0"/>
              <a:t>focus</a:t>
            </a:r>
          </a:p>
          <a:p>
            <a:r>
              <a:rPr lang="en-US" sz="2400" dirty="0" smtClean="0"/>
              <a:t>Heavy </a:t>
            </a:r>
            <a:r>
              <a:rPr lang="en-US" sz="2400" dirty="0"/>
              <a:t>Phone users tend to have higher counts in lower focus categories</a:t>
            </a:r>
          </a:p>
          <a:p>
            <a:endParaRPr lang="en-IN" sz="24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741" y="2403566"/>
            <a:ext cx="5341762" cy="3320554"/>
          </a:xfrm>
        </p:spPr>
      </p:pic>
    </p:spTree>
    <p:extLst>
      <p:ext uri="{BB962C8B-B14F-4D97-AF65-F5344CB8AC3E}">
        <p14:creationId xmlns:p14="http://schemas.microsoft.com/office/powerpoint/2010/main" val="1478487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7" y="365125"/>
            <a:ext cx="10635343" cy="14605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 smtClean="0"/>
              <a:t>stacked column </a:t>
            </a:r>
            <a:r>
              <a:rPr lang="en-US" dirty="0" smtClean="0"/>
              <a:t> </a:t>
            </a:r>
            <a:r>
              <a:rPr lang="en-US" dirty="0" smtClean="0"/>
              <a:t>visualization</a:t>
            </a:r>
            <a:endParaRPr lang="en-IN" sz="3200" b="1" dirty="0">
              <a:effectLst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222069" y="2187999"/>
            <a:ext cx="600891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Average of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final_grade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sleep_hours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shows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How average final grade changes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different sleep hours (from ~0 to 10+ hours).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line stays relatively high and stable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 4 to 10 hours of sleep, with some fluctuations.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Sleep hours seem to have a mild positive 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stabilizing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 on grades, but not a very sharp trend.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984" y="2187999"/>
            <a:ext cx="5693172" cy="2862322"/>
          </a:xfrm>
        </p:spPr>
      </p:pic>
    </p:spTree>
    <p:extLst>
      <p:ext uri="{BB962C8B-B14F-4D97-AF65-F5344CB8AC3E}">
        <p14:creationId xmlns:p14="http://schemas.microsoft.com/office/powerpoint/2010/main" val="169505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How  Breaks Relate to Final Grade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Table: Grade Tier / Average (70-id) A / </a:t>
            </a:r>
            <a:r>
              <a:rPr lang="en-US" sz="2400" dirty="0" err="1"/>
              <a:t>breaks_per_day</a:t>
            </a:r>
            <a:r>
              <a:rPr lang="en-US" sz="2400" dirty="0"/>
              <a:t> / Count of </a:t>
            </a:r>
            <a:r>
              <a:rPr lang="en-US" sz="2400" dirty="0" smtClean="0"/>
              <a:t>students</a:t>
            </a:r>
          </a:p>
          <a:p>
            <a:r>
              <a:rPr lang="en-US" sz="2400" dirty="0" smtClean="0"/>
              <a:t>Students </a:t>
            </a:r>
            <a:r>
              <a:rPr lang="en-US" sz="2400" dirty="0"/>
              <a:t>grouped by how many breaks per day they take, showing count of students and possibly average grade or </a:t>
            </a:r>
            <a:r>
              <a:rPr lang="en-US" sz="2400" dirty="0" smtClean="0"/>
              <a:t>tier</a:t>
            </a:r>
          </a:p>
          <a:p>
            <a:r>
              <a:rPr lang="en-US" sz="2400" dirty="0" smtClean="0"/>
              <a:t>Do </a:t>
            </a:r>
            <a:r>
              <a:rPr lang="en-US" sz="2400" dirty="0"/>
              <a:t>students who take more breaks perform better / worse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Top </a:t>
            </a:r>
            <a:r>
              <a:rPr lang="en-US" sz="2400" dirty="0"/>
              <a:t>rows (10–12 breaks/day) have fewer students but possibly better performance indicators</a:t>
            </a:r>
            <a:endParaRPr lang="en-US" sz="2400" dirty="0">
              <a:effectLst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340" y="1891844"/>
            <a:ext cx="3016145" cy="3922637"/>
          </a:xfrm>
        </p:spPr>
      </p:pic>
    </p:spTree>
    <p:extLst>
      <p:ext uri="{BB962C8B-B14F-4D97-AF65-F5344CB8AC3E}">
        <p14:creationId xmlns:p14="http://schemas.microsoft.com/office/powerpoint/2010/main" val="1787118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2" y="716712"/>
            <a:ext cx="10946674" cy="5734571"/>
          </a:xfrm>
        </p:spPr>
      </p:pic>
    </p:spTree>
    <p:extLst>
      <p:ext uri="{BB962C8B-B14F-4D97-AF65-F5344CB8AC3E}">
        <p14:creationId xmlns:p14="http://schemas.microsoft.com/office/powerpoint/2010/main" val="203740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463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PowerPoint Presentation</vt:lpstr>
      <vt:lpstr>                        objective</vt:lpstr>
      <vt:lpstr>PowerPoint Presentation</vt:lpstr>
      <vt:lpstr>Dataset Snapshot</vt:lpstr>
      <vt:lpstr>visualizations</vt:lpstr>
      <vt:lpstr>         Showing values of exercise minutes and stress level according to              student id </vt:lpstr>
      <vt:lpstr>Bar chart: Average of final _ grade by attendance _ percentage bins</vt:lpstr>
      <vt:lpstr>Focus Score Categories by Phone &amp; Gaming Levels </vt:lpstr>
      <vt:lpstr> Horizontal bar chart: Count of Gaming Level Column by Phone Level + Focus score Category </vt:lpstr>
      <vt:lpstr> stacked column  visualization</vt:lpstr>
      <vt:lpstr>How  Breaks Relate to Final Grade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24</cp:revision>
  <dcterms:created xsi:type="dcterms:W3CDTF">2026-03-22T11:34:07Z</dcterms:created>
  <dcterms:modified xsi:type="dcterms:W3CDTF">2026-03-24T09:35:26Z</dcterms:modified>
</cp:coreProperties>
</file>