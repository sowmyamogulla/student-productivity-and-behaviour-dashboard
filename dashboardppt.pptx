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57" r:id="rId4"/>
    <p:sldId id="259" r:id="rId5"/>
    <p:sldId id="260" r:id="rId6"/>
    <p:sldId id="261" r:id="rId7"/>
    <p:sldId id="262" r:id="rId8"/>
    <p:sldId id="263" r:id="rId9"/>
    <p:sldId id="268" r:id="rId10"/>
    <p:sldId id="264" r:id="rId11"/>
    <p:sldId id="265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F1B9A-15DB-477C-9446-CDC348125826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688C3-63C3-4DC5-A081-7DF75AFC37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8991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F1B9A-15DB-477C-9446-CDC348125826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688C3-63C3-4DC5-A081-7DF75AFC37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1727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F1B9A-15DB-477C-9446-CDC348125826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688C3-63C3-4DC5-A081-7DF75AFC37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3703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F1B9A-15DB-477C-9446-CDC348125826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688C3-63C3-4DC5-A081-7DF75AFC37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5456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F1B9A-15DB-477C-9446-CDC348125826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688C3-63C3-4DC5-A081-7DF75AFC37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692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F1B9A-15DB-477C-9446-CDC348125826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688C3-63C3-4DC5-A081-7DF75AFC37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6493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F1B9A-15DB-477C-9446-CDC348125826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688C3-63C3-4DC5-A081-7DF75AFC37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7954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F1B9A-15DB-477C-9446-CDC348125826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688C3-63C3-4DC5-A081-7DF75AFC37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89860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F1B9A-15DB-477C-9446-CDC348125826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688C3-63C3-4DC5-A081-7DF75AFC37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32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F1B9A-15DB-477C-9446-CDC348125826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688C3-63C3-4DC5-A081-7DF75AFC37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4067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F1B9A-15DB-477C-9446-CDC348125826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688C3-63C3-4DC5-A081-7DF75AFC37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9267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4F1B9A-15DB-477C-9446-CDC348125826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2688C3-63C3-4DC5-A081-7DF75AFC37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1082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600891"/>
            <a:ext cx="9753600" cy="2909072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5" name="Rectangle 1"/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084217" y="4259418"/>
            <a:ext cx="10215154" cy="2092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Black" panose="020B0A040201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Black" panose="020B0A04020102020204" pitchFamily="34" charset="0"/>
              </a:rPr>
              <a:t>Student Productivity &amp; </a:t>
            </a:r>
            <a:r>
              <a:rPr kumimoji="0" lang="en-US" altLang="en-US" sz="20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Black" panose="020B0A04020102020204" pitchFamily="34" charset="0"/>
              </a:rPr>
              <a:t>Behaviour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Black" panose="020B0A04020102020204" pitchFamily="34" charset="0"/>
              </a:rPr>
              <a:t> Analysis</a:t>
            </a:r>
            <a:b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Black" panose="020B0A04020102020204" pitchFamily="34" charset="0"/>
              </a:rPr>
            </a:b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Black" panose="020B0A040201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Black" panose="020B0A04020102020204" pitchFamily="34" charset="0"/>
              </a:rPr>
              <a:t>Subtitle: Insights from 20,000 Students – Impact of Gaming, Phone Usage, Social Media, Sleep &amp; More  </a:t>
            </a:r>
            <a:b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Black" panose="020B0A04020102020204" pitchFamily="34" charset="0"/>
              </a:rPr>
            </a:b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Black" panose="020B0A04020102020204" pitchFamily="34" charset="0"/>
              </a:rPr>
              <a:t>                                                                                                        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Arial Black" panose="020B0A04020102020204" pitchFamily="34" charset="0"/>
              </a:rPr>
              <a:t> Presented by                                                                            </a:t>
            </a:r>
            <a:r>
              <a:rPr lang="en-US" altLang="en-US" sz="1800" dirty="0" smtClean="0">
                <a:solidFill>
                  <a:srgbClr val="002060"/>
                </a:solidFill>
                <a:latin typeface="Arial Black" panose="020B0A04020102020204" pitchFamily="34" charset="0"/>
              </a:rPr>
              <a:t>                                                                                                                   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Arial Black" panose="020B0A04020102020204" pitchFamily="34" charset="0"/>
              </a:rPr>
              <a:t/>
            </a:r>
            <a:b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Arial Black" panose="020B0A04020102020204" pitchFamily="34" charset="0"/>
              </a:rPr>
            </a:b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Arial Black" panose="020B0A04020102020204" pitchFamily="34" charset="0"/>
              </a:rPr>
              <a:t>                                                                                                    </a:t>
            </a:r>
            <a:r>
              <a:rPr lang="en-US" altLang="en-US" sz="1800" dirty="0" err="1">
                <a:solidFill>
                  <a:srgbClr val="002060"/>
                </a:solidFill>
                <a:latin typeface="Arial Black" panose="020B0A04020102020204" pitchFamily="34" charset="0"/>
              </a:rPr>
              <a:t>M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rgbClr val="002060"/>
                </a:solidFill>
                <a:effectLst/>
                <a:latin typeface="Arial Black" panose="020B0A04020102020204" pitchFamily="34" charset="0"/>
              </a:rPr>
              <a:t>ogulla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Arial Black" panose="020B0A04020102020204" pitchFamily="34" charset="0"/>
              </a:rPr>
              <a:t> </a:t>
            </a:r>
            <a:r>
              <a:rPr lang="en-US" altLang="en-US" sz="1800" dirty="0" err="1">
                <a:solidFill>
                  <a:srgbClr val="002060"/>
                </a:solidFill>
                <a:latin typeface="Arial Black" panose="020B0A04020102020204" pitchFamily="34" charset="0"/>
              </a:rPr>
              <a:t>S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rgbClr val="002060"/>
                </a:solidFill>
                <a:effectLst/>
                <a:latin typeface="Arial Black" panose="020B0A04020102020204" pitchFamily="34" charset="0"/>
              </a:rPr>
              <a:t>owmya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Black" panose="020B0A04020102020204" pitchFamily="34" charset="0"/>
              </a:rPr>
              <a:t>                                                                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628763"/>
            <a:ext cx="9753600" cy="30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108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 smtClean="0"/>
              <a:t>                        </a:t>
            </a:r>
            <a:r>
              <a:rPr lang="en-US" sz="4800" b="1" dirty="0" smtClean="0"/>
              <a:t>objective</a:t>
            </a:r>
            <a:endParaRPr lang="en-IN" sz="4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9664337" cy="1897289"/>
          </a:xfrm>
        </p:spPr>
        <p:txBody>
          <a:bodyPr>
            <a:normAutofit/>
          </a:bodyPr>
          <a:lstStyle/>
          <a:p>
            <a:r>
              <a:rPr lang="en-US" sz="2400" dirty="0"/>
              <a:t>This dashboard provides a comprehensive overview of student productivity, </a:t>
            </a:r>
            <a:r>
              <a:rPr lang="en-US" sz="2400" dirty="0" err="1"/>
              <a:t>behaviour</a:t>
            </a:r>
            <a:r>
              <a:rPr lang="en-US" sz="2400" dirty="0"/>
              <a:t>, and academic performance</a:t>
            </a:r>
            <a:r>
              <a:rPr lang="en-US" sz="2400" dirty="0" smtClean="0"/>
              <a:t>.</a:t>
            </a:r>
            <a:r>
              <a:rPr lang="en-US" sz="2400" dirty="0"/>
              <a:t> Examine how </a:t>
            </a:r>
            <a:r>
              <a:rPr lang="en-US" sz="2400" dirty="0" err="1"/>
              <a:t>behaviours</a:t>
            </a:r>
            <a:r>
              <a:rPr lang="en-US" sz="2400" dirty="0"/>
              <a:t> such as social media usage, phone habits, and attendance influence student productivity and final grades.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23534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526" y="431074"/>
            <a:ext cx="11192913" cy="5956664"/>
          </a:xfrm>
        </p:spPr>
      </p:pic>
    </p:spTree>
    <p:extLst>
      <p:ext uri="{BB962C8B-B14F-4D97-AF65-F5344CB8AC3E}">
        <p14:creationId xmlns:p14="http://schemas.microsoft.com/office/powerpoint/2010/main" val="2468209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8815251" cy="1325563"/>
          </a:xfrm>
        </p:spPr>
        <p:txBody>
          <a:bodyPr/>
          <a:lstStyle/>
          <a:p>
            <a:pPr algn="ctr"/>
            <a:r>
              <a:rPr lang="en-IN" b="1" dirty="0" smtClean="0">
                <a:solidFill>
                  <a:srgbClr val="FF0000"/>
                </a:solidFill>
                <a:effectLst/>
              </a:rPr>
              <a:t>Dataset Snapshot</a:t>
            </a:r>
            <a:endParaRPr lang="en-IN" b="1" dirty="0">
              <a:solidFill>
                <a:srgbClr val="FF0000"/>
              </a:solidFill>
              <a:effectLst/>
            </a:endParaRP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535577" y="2353195"/>
            <a:ext cx="10672355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20,000 students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Key variables : age, gender,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study_hours_per_day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sleep_hours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phone_usage_hours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social_media_hours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gaming_hours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breaks_per_day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exercise_minutes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stress_level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focus_score,productivity_score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final_grade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attendance_percentage</a:t>
            </a: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2300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9086" y="365126"/>
            <a:ext cx="10504714" cy="1202418"/>
          </a:xfrm>
        </p:spPr>
        <p:txBody>
          <a:bodyPr>
            <a:normAutofit/>
          </a:bodyPr>
          <a:lstStyle/>
          <a:p>
            <a:pPr algn="ctr"/>
            <a:r>
              <a:rPr lang="en-US" sz="4000" dirty="0" smtClean="0">
                <a:solidFill>
                  <a:schemeClr val="accent2">
                    <a:lumMod val="50000"/>
                  </a:schemeClr>
                </a:solidFill>
                <a:latin typeface="+mn-lt"/>
              </a:rPr>
              <a:t>visualizations</a:t>
            </a:r>
            <a:endParaRPr lang="en-IN" sz="4000" dirty="0">
              <a:solidFill>
                <a:schemeClr val="accent2">
                  <a:lumMod val="50000"/>
                </a:schemeClr>
              </a:solidFill>
              <a:effectLst/>
              <a:latin typeface="+mn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7829" y="1567543"/>
            <a:ext cx="11351622" cy="4885508"/>
          </a:xfrm>
        </p:spPr>
        <p:txBody>
          <a:bodyPr/>
          <a:lstStyle/>
          <a:p>
            <a:r>
              <a:rPr lang="en-US" sz="2000" dirty="0"/>
              <a:t>Big number: </a:t>
            </a:r>
            <a:r>
              <a:rPr lang="en-US" sz="2000" dirty="0" smtClean="0"/>
              <a:t>20K</a:t>
            </a:r>
          </a:p>
          <a:p>
            <a:r>
              <a:rPr lang="en-US" sz="2000" dirty="0" smtClean="0"/>
              <a:t>Total </a:t>
            </a:r>
            <a:r>
              <a:rPr lang="en-US" sz="2000" dirty="0"/>
              <a:t>number of students in the </a:t>
            </a:r>
            <a:r>
              <a:rPr lang="en-US" sz="2000" dirty="0" err="1"/>
              <a:t>datasetOverall</a:t>
            </a:r>
            <a:r>
              <a:rPr lang="en-US" sz="2000" dirty="0"/>
              <a:t> scale of the analysis≈20,000 </a:t>
            </a:r>
            <a:r>
              <a:rPr lang="en-US" sz="2000" dirty="0" smtClean="0"/>
              <a:t>students</a:t>
            </a:r>
          </a:p>
          <a:p>
            <a:r>
              <a:rPr lang="en-US" b="1" dirty="0"/>
              <a:t>Donut / Pie chart</a:t>
            </a:r>
            <a:r>
              <a:rPr lang="en-US" dirty="0"/>
              <a:t>: </a:t>
            </a:r>
            <a:r>
              <a:rPr lang="en-US" sz="2000" dirty="0"/>
              <a:t>Sum of </a:t>
            </a:r>
            <a:r>
              <a:rPr lang="en-US" sz="2000" dirty="0" err="1"/>
              <a:t>productivity_score</a:t>
            </a:r>
            <a:r>
              <a:rPr lang="en-US" sz="2000" dirty="0"/>
              <a:t> by </a:t>
            </a:r>
            <a:r>
              <a:rPr lang="en-US" sz="2000" dirty="0" err="1"/>
              <a:t>genderTotal</a:t>
            </a:r>
            <a:r>
              <a:rPr lang="en-US" sz="2000" dirty="0"/>
              <a:t> productivity score summed and split by gender </a:t>
            </a:r>
            <a:r>
              <a:rPr lang="en-US" sz="2000" dirty="0" smtClean="0"/>
              <a:t>category Which </a:t>
            </a:r>
            <a:r>
              <a:rPr lang="en-US" sz="2000" dirty="0"/>
              <a:t>gender contributes most to the total productivity score in the </a:t>
            </a:r>
            <a:r>
              <a:rPr lang="en-US" sz="2000" dirty="0" smtClean="0"/>
              <a:t>dataset male </a:t>
            </a:r>
            <a:r>
              <a:rPr lang="en-US" sz="2000" dirty="0"/>
              <a:t>≈ 481.63K (48%) </a:t>
            </a:r>
            <a:r>
              <a:rPr lang="en-US" sz="2000" dirty="0" smtClean="0"/>
              <a:t>other≈ </a:t>
            </a:r>
            <a:r>
              <a:rPr lang="en-US" sz="2000" dirty="0"/>
              <a:t>38.98K (3.9%) </a:t>
            </a:r>
            <a:r>
              <a:rPr lang="en-US" sz="2000" dirty="0" smtClean="0"/>
              <a:t>,female </a:t>
            </a:r>
            <a:r>
              <a:rPr lang="en-US" sz="2000" dirty="0"/>
              <a:t>≈ 483K (48.1%) → Very unusual distribution (Other almost = Female</a:t>
            </a:r>
            <a:r>
              <a:rPr lang="en-US" sz="2000" dirty="0" smtClean="0"/>
              <a:t>)</a:t>
            </a:r>
            <a:endParaRPr lang="en-US" sz="2000" dirty="0"/>
          </a:p>
          <a:p>
            <a:endParaRPr lang="en-US" dirty="0">
              <a:effectLst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6154" y="4193177"/>
            <a:ext cx="5302587" cy="1746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132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65674" cy="1372235"/>
          </a:xfrm>
        </p:spPr>
        <p:txBody>
          <a:bodyPr>
            <a:normAutofit/>
          </a:bodyPr>
          <a:lstStyle/>
          <a:p>
            <a:r>
              <a:rPr lang="en-US" sz="2400" dirty="0" smtClean="0"/>
              <a:t>         </a:t>
            </a:r>
            <a:r>
              <a:rPr lang="en-US" sz="2800" b="1" dirty="0" smtClean="0">
                <a:solidFill>
                  <a:srgbClr val="C00000"/>
                </a:solidFill>
              </a:rPr>
              <a:t>Showing values of </a:t>
            </a:r>
            <a:r>
              <a:rPr lang="en-US" sz="2800" b="1" dirty="0">
                <a:solidFill>
                  <a:srgbClr val="C00000"/>
                </a:solidFill>
              </a:rPr>
              <a:t>exercise minutes and stress level </a:t>
            </a:r>
            <a:r>
              <a:rPr lang="en-US" sz="2800" b="1" dirty="0" smtClean="0">
                <a:solidFill>
                  <a:srgbClr val="C00000"/>
                </a:solidFill>
              </a:rPr>
              <a:t>according to </a:t>
            </a:r>
            <a:r>
              <a:rPr lang="en-US" sz="2800" b="1" dirty="0" smtClean="0">
                <a:solidFill>
                  <a:srgbClr val="C00000"/>
                </a:solidFill>
              </a:rPr>
              <a:t>    </a:t>
            </a:r>
            <a:br>
              <a:rPr lang="en-US" sz="2800" b="1" dirty="0" smtClean="0">
                <a:solidFill>
                  <a:srgbClr val="C00000"/>
                </a:solidFill>
              </a:rPr>
            </a:br>
            <a:r>
              <a:rPr lang="en-US" sz="2800" b="1" dirty="0" smtClean="0">
                <a:solidFill>
                  <a:srgbClr val="C00000"/>
                </a:solidFill>
              </a:rPr>
              <a:t>        student </a:t>
            </a:r>
            <a:r>
              <a:rPr lang="en-US" sz="2400" b="1" dirty="0" smtClean="0">
                <a:solidFill>
                  <a:srgbClr val="C00000"/>
                </a:solidFill>
              </a:rPr>
              <a:t>id </a:t>
            </a:r>
            <a:endParaRPr lang="en-US" sz="2400" b="1" dirty="0">
              <a:solidFill>
                <a:srgbClr val="C00000"/>
              </a:solidFill>
              <a:effectLst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2954" y="2487522"/>
            <a:ext cx="3503110" cy="2228169"/>
          </a:xfrm>
        </p:spPr>
      </p:pic>
    </p:spTree>
    <p:extLst>
      <p:ext uri="{BB962C8B-B14F-4D97-AF65-F5344CB8AC3E}">
        <p14:creationId xmlns:p14="http://schemas.microsoft.com/office/powerpoint/2010/main" val="438213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Bar chart: Average of </a:t>
            </a:r>
            <a:r>
              <a:rPr lang="en-US" sz="2800" b="1" dirty="0" smtClean="0">
                <a:solidFill>
                  <a:srgbClr val="FF0000"/>
                </a:solidFill>
              </a:rPr>
              <a:t>final _ grade </a:t>
            </a:r>
            <a:r>
              <a:rPr lang="en-US" sz="2800" b="1" dirty="0">
                <a:solidFill>
                  <a:srgbClr val="FF0000"/>
                </a:solidFill>
              </a:rPr>
              <a:t>by </a:t>
            </a:r>
            <a:r>
              <a:rPr lang="en-US" sz="2800" b="1" dirty="0" smtClean="0">
                <a:solidFill>
                  <a:srgbClr val="FF0000"/>
                </a:solidFill>
              </a:rPr>
              <a:t>attendance _ percentage </a:t>
            </a:r>
            <a:r>
              <a:rPr lang="en-US" sz="2800" b="1" dirty="0">
                <a:solidFill>
                  <a:srgbClr val="FF0000"/>
                </a:solidFill>
              </a:rPr>
              <a:t>bins</a:t>
            </a:r>
            <a:endParaRPr lang="en-IN" sz="2800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4766" y="1825625"/>
            <a:ext cx="5445034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Displays being in class and academic success</a:t>
            </a:r>
            <a:endParaRPr lang="en-US" dirty="0"/>
          </a:p>
          <a:p>
            <a:pPr marL="0" indent="0">
              <a:buNone/>
            </a:pPr>
            <a:r>
              <a:rPr lang="en-US" dirty="0" smtClean="0">
                <a:solidFill>
                  <a:srgbClr val="7030A0"/>
                </a:solidFill>
                <a:effectLst/>
              </a:rPr>
              <a:t>X- axis(Categories): </a:t>
            </a:r>
            <a:r>
              <a:rPr lang="en-US" dirty="0" smtClean="0">
                <a:effectLst/>
              </a:rPr>
              <a:t>the data is grouped into “bins” representing ranges of attendance percentages</a:t>
            </a:r>
            <a:br>
              <a:rPr lang="en-US" dirty="0" smtClean="0">
                <a:effectLst/>
              </a:rPr>
            </a:br>
            <a:r>
              <a:rPr lang="en-US" dirty="0" smtClean="0">
                <a:solidFill>
                  <a:srgbClr val="00B050"/>
                </a:solidFill>
                <a:effectLst/>
              </a:rPr>
              <a:t>y-axis(measurement): </a:t>
            </a:r>
            <a:r>
              <a:rPr lang="en-US" dirty="0" smtClean="0">
                <a:effectLst/>
              </a:rPr>
              <a:t>The height of each bar represents the average final grade for students within that attendance range</a:t>
            </a:r>
            <a:br>
              <a:rPr lang="en-US" dirty="0" smtClean="0">
                <a:effectLst/>
              </a:rPr>
            </a:br>
            <a:r>
              <a:rPr lang="en-US" dirty="0" smtClean="0">
                <a:effectLst/>
              </a:rPr>
              <a:t/>
            </a:r>
            <a:br>
              <a:rPr lang="en-US" dirty="0" smtClean="0">
                <a:effectLst/>
              </a:rPr>
            </a:br>
            <a:endParaRPr lang="en-US" dirty="0" smtClean="0">
              <a:effectLst/>
            </a:endParaRPr>
          </a:p>
          <a:p>
            <a:endParaRPr lang="en-IN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1459" y="2338251"/>
            <a:ext cx="5391931" cy="2795452"/>
          </a:xfrm>
        </p:spPr>
      </p:pic>
    </p:spTree>
    <p:extLst>
      <p:ext uri="{BB962C8B-B14F-4D97-AF65-F5344CB8AC3E}">
        <p14:creationId xmlns:p14="http://schemas.microsoft.com/office/powerpoint/2010/main" val="94636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>
                <a:effectLst/>
              </a:rPr>
              <a:t>Focus Score Categories by Phone &amp; Gaming Levels</a:t>
            </a:r>
            <a:br>
              <a:rPr lang="en-US" dirty="0" smtClean="0">
                <a:effectLst/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 smtClean="0"/>
              <a:t>Key visual: Your bar chart (Heavy Phone, Moderate Phone, Light Phone) with color-coded tiers (Below </a:t>
            </a:r>
            <a:r>
              <a:rPr lang="en-IN" sz="2400" dirty="0" err="1" smtClean="0"/>
              <a:t>Avg</a:t>
            </a:r>
            <a:r>
              <a:rPr lang="en-IN" sz="2400" dirty="0" smtClean="0"/>
              <a:t>, Good, Excellent)</a:t>
            </a:r>
          </a:p>
          <a:p>
            <a:r>
              <a:rPr lang="en-IN" sz="2400" dirty="0" smtClean="0"/>
              <a:t>Insight:</a:t>
            </a:r>
          </a:p>
          <a:p>
            <a:pPr lvl="1"/>
            <a:r>
              <a:rPr lang="en-IN" dirty="0" smtClean="0"/>
              <a:t>Heavy phone (&gt;6h) → lowest average focus</a:t>
            </a:r>
          </a:p>
          <a:p>
            <a:pPr lvl="1"/>
            <a:r>
              <a:rPr lang="en-IN" dirty="0" smtClean="0"/>
              <a:t>Light phone (&lt;3h) → highest focus, especially with light gaming</a:t>
            </a:r>
          </a:p>
          <a:p>
            <a:r>
              <a:rPr lang="en-IN" sz="2400" dirty="0" smtClean="0"/>
              <a:t>Visual: Clustered bars + annotations on worst/best combos</a:t>
            </a:r>
          </a:p>
          <a:p>
            <a:pPr marL="0" indent="0">
              <a:buNone/>
            </a:pPr>
            <a:endParaRPr lang="en-IN" sz="2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77688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/>
            </a:r>
            <a:br>
              <a:rPr lang="en-US" dirty="0" smtClean="0"/>
            </a:br>
            <a:r>
              <a:rPr lang="en-US" sz="3600" b="1" dirty="0" smtClean="0"/>
              <a:t>Horizontal </a:t>
            </a:r>
            <a:r>
              <a:rPr lang="en-US" sz="3600" b="1" dirty="0"/>
              <a:t>bar chart: Count of Gaming Level Column by Phone Level + Focus score Category</a:t>
            </a:r>
            <a:br>
              <a:rPr lang="en-US" sz="3600" b="1" dirty="0"/>
            </a:br>
            <a:endParaRPr lang="en-IN" sz="3600" b="1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/>
          <a:p>
            <a:r>
              <a:rPr lang="en-US" sz="2400" dirty="0" smtClean="0"/>
              <a:t>Number </a:t>
            </a:r>
            <a:r>
              <a:rPr lang="en-US" sz="2400" dirty="0"/>
              <a:t>of students in different combinations of Gaming level × Focus score category (probably colored by focus level</a:t>
            </a:r>
            <a:r>
              <a:rPr lang="en-US" sz="2400" dirty="0" smtClean="0"/>
              <a:t>)</a:t>
            </a:r>
          </a:p>
          <a:p>
            <a:r>
              <a:rPr lang="en-US" sz="2400" dirty="0" smtClean="0"/>
              <a:t>Relationship </a:t>
            </a:r>
            <a:r>
              <a:rPr lang="en-US" sz="2400" dirty="0"/>
              <a:t>between gaming intensity, phone usage level, and ability to </a:t>
            </a:r>
            <a:r>
              <a:rPr lang="en-US" sz="2400" dirty="0" smtClean="0"/>
              <a:t>focus</a:t>
            </a:r>
          </a:p>
          <a:p>
            <a:r>
              <a:rPr lang="en-US" sz="2400" dirty="0" smtClean="0"/>
              <a:t>Heavy </a:t>
            </a:r>
            <a:r>
              <a:rPr lang="en-US" sz="2400" dirty="0"/>
              <a:t>Phone users tend to have higher counts in lower focus categories</a:t>
            </a:r>
          </a:p>
          <a:p>
            <a:endParaRPr lang="en-IN" sz="2400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2741" y="2403566"/>
            <a:ext cx="5341762" cy="3320554"/>
          </a:xfrm>
        </p:spPr>
      </p:pic>
    </p:spTree>
    <p:extLst>
      <p:ext uri="{BB962C8B-B14F-4D97-AF65-F5344CB8AC3E}">
        <p14:creationId xmlns:p14="http://schemas.microsoft.com/office/powerpoint/2010/main" val="1478487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8457" y="365125"/>
            <a:ext cx="10635343" cy="1460500"/>
          </a:xfrm>
        </p:spPr>
        <p:txBody>
          <a:bodyPr>
            <a:normAutofit/>
          </a:bodyPr>
          <a:lstStyle/>
          <a:p>
            <a:r>
              <a:rPr lang="en-US" dirty="0" smtClean="0"/>
              <a:t> </a:t>
            </a:r>
            <a:r>
              <a:rPr lang="en-US" dirty="0"/>
              <a:t>Scatter </a:t>
            </a:r>
            <a:r>
              <a:rPr lang="en-US" dirty="0" smtClean="0"/>
              <a:t>plot visualization</a:t>
            </a:r>
            <a:endParaRPr lang="en-IN" sz="3200" b="1" dirty="0">
              <a:effectLst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718457" y="1645919"/>
            <a:ext cx="5301343" cy="453104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Small multiple / grouped bar or range plot (?): Average of </a:t>
            </a:r>
            <a:r>
              <a:rPr lang="en-US" dirty="0" smtClean="0"/>
              <a:t>study _</a:t>
            </a:r>
            <a:r>
              <a:rPr lang="en-US" dirty="0" err="1" smtClean="0"/>
              <a:t>hours_per</a:t>
            </a:r>
            <a:r>
              <a:rPr lang="en-US" dirty="0" smtClean="0"/>
              <a:t>_ day </a:t>
            </a:r>
            <a:r>
              <a:rPr lang="en-US" dirty="0"/>
              <a:t>and Average of </a:t>
            </a:r>
            <a:r>
              <a:rPr lang="en-US" dirty="0" smtClean="0"/>
              <a:t>final _ grade </a:t>
            </a:r>
            <a:r>
              <a:rPr lang="en-US" dirty="0"/>
              <a:t>by </a:t>
            </a:r>
            <a:r>
              <a:rPr lang="en-US" dirty="0" err="1" smtClean="0"/>
              <a:t>sleep_hours</a:t>
            </a:r>
            <a:r>
              <a:rPr lang="en-US" dirty="0" smtClean="0"/>
              <a:t> </a:t>
            </a:r>
            <a:r>
              <a:rPr lang="en-US" dirty="0"/>
              <a:t>and </a:t>
            </a:r>
            <a:r>
              <a:rPr lang="en-US" dirty="0" smtClean="0"/>
              <a:t>gender</a:t>
            </a:r>
          </a:p>
          <a:p>
            <a:r>
              <a:rPr lang="en-US" dirty="0" smtClean="0"/>
              <a:t>Average </a:t>
            </a:r>
            <a:r>
              <a:rPr lang="en-US" dirty="0"/>
              <a:t>study hours + average final grade, faceted or colored by gender, across different </a:t>
            </a:r>
            <a:r>
              <a:rPr lang="en-US" dirty="0" smtClean="0"/>
              <a:t>sleep _ hours bins</a:t>
            </a:r>
          </a:p>
          <a:p>
            <a:r>
              <a:rPr lang="en-US" dirty="0" smtClean="0"/>
              <a:t>How </a:t>
            </a:r>
            <a:r>
              <a:rPr lang="en-US" dirty="0"/>
              <a:t>sleep duration relates to study time and grades — split by </a:t>
            </a:r>
            <a:r>
              <a:rPr lang="en-US" dirty="0" smtClean="0"/>
              <a:t>gender</a:t>
            </a:r>
          </a:p>
          <a:p>
            <a:r>
              <a:rPr lang="en-US" dirty="0"/>
              <a:t>Most likely study hours/day (x-axis) vs final grade (y-axis), colored by </a:t>
            </a:r>
            <a:r>
              <a:rPr lang="en-US" dirty="0" smtClean="0"/>
              <a:t>gender</a:t>
            </a:r>
          </a:p>
          <a:p>
            <a:r>
              <a:rPr lang="en-US" dirty="0" smtClean="0"/>
              <a:t>Clear </a:t>
            </a:r>
            <a:r>
              <a:rPr lang="en-US" dirty="0"/>
              <a:t>pattern visible (probably 6–8 hours sleep shows best study + grade </a:t>
            </a:r>
            <a:r>
              <a:rPr lang="en-US" dirty="0" smtClean="0"/>
              <a:t>balance)</a:t>
            </a:r>
            <a:endParaRPr lang="en-US" dirty="0"/>
          </a:p>
          <a:p>
            <a:endParaRPr lang="en-IN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057" y="2168433"/>
            <a:ext cx="4430145" cy="3149706"/>
          </a:xfrm>
        </p:spPr>
      </p:pic>
    </p:spTree>
    <p:extLst>
      <p:ext uri="{BB962C8B-B14F-4D97-AF65-F5344CB8AC3E}">
        <p14:creationId xmlns:p14="http://schemas.microsoft.com/office/powerpoint/2010/main" val="1695054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effectLst/>
              </a:rPr>
              <a:t>How </a:t>
            </a:r>
            <a:r>
              <a:rPr lang="en-US" dirty="0" smtClean="0">
                <a:effectLst/>
              </a:rPr>
              <a:t> </a:t>
            </a:r>
            <a:r>
              <a:rPr lang="en-US" dirty="0" smtClean="0">
                <a:effectLst/>
              </a:rPr>
              <a:t>Breaks Relate to Final Grade</a:t>
            </a:r>
            <a:endParaRPr lang="en-US" dirty="0">
              <a:effectLst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Table: Grade Tier / Average (70-id) A / </a:t>
            </a:r>
            <a:r>
              <a:rPr lang="en-US" sz="2400" dirty="0" err="1"/>
              <a:t>breaks_per_day</a:t>
            </a:r>
            <a:r>
              <a:rPr lang="en-US" sz="2400" dirty="0"/>
              <a:t> / Count of </a:t>
            </a:r>
            <a:r>
              <a:rPr lang="en-US" sz="2400" dirty="0" smtClean="0"/>
              <a:t>students</a:t>
            </a:r>
          </a:p>
          <a:p>
            <a:r>
              <a:rPr lang="en-US" sz="2400" dirty="0" smtClean="0"/>
              <a:t>Students </a:t>
            </a:r>
            <a:r>
              <a:rPr lang="en-US" sz="2400" dirty="0"/>
              <a:t>grouped by how many breaks per day they take, showing count of students and possibly average grade or </a:t>
            </a:r>
            <a:r>
              <a:rPr lang="en-US" sz="2400" dirty="0" smtClean="0"/>
              <a:t>tier</a:t>
            </a:r>
          </a:p>
          <a:p>
            <a:r>
              <a:rPr lang="en-US" sz="2400" dirty="0" smtClean="0"/>
              <a:t>Do </a:t>
            </a:r>
            <a:r>
              <a:rPr lang="en-US" sz="2400" dirty="0"/>
              <a:t>students who take more breaks perform better / worse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Top </a:t>
            </a:r>
            <a:r>
              <a:rPr lang="en-US" sz="2400" dirty="0"/>
              <a:t>rows (10–12 breaks/day) have fewer students but possibly better performance indicators</a:t>
            </a:r>
            <a:endParaRPr lang="en-US" sz="2400" dirty="0">
              <a:effectLst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1340" y="1891844"/>
            <a:ext cx="3016145" cy="3922637"/>
          </a:xfrm>
        </p:spPr>
      </p:pic>
    </p:spTree>
    <p:extLst>
      <p:ext uri="{BB962C8B-B14F-4D97-AF65-F5344CB8AC3E}">
        <p14:creationId xmlns:p14="http://schemas.microsoft.com/office/powerpoint/2010/main" val="1787118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772" y="716712"/>
            <a:ext cx="10946674" cy="5734571"/>
          </a:xfrm>
        </p:spPr>
      </p:pic>
    </p:spTree>
    <p:extLst>
      <p:ext uri="{BB962C8B-B14F-4D97-AF65-F5344CB8AC3E}">
        <p14:creationId xmlns:p14="http://schemas.microsoft.com/office/powerpoint/2010/main" val="2037401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477</Words>
  <Application>Microsoft Office PowerPoint</Application>
  <PresentationFormat>Widescreen</PresentationFormat>
  <Paragraphs>40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Arial Black</vt:lpstr>
      <vt:lpstr>Calibri</vt:lpstr>
      <vt:lpstr>Calibri Light</vt:lpstr>
      <vt:lpstr>Office Theme</vt:lpstr>
      <vt:lpstr>PowerPoint Presentation</vt:lpstr>
      <vt:lpstr>                        objective</vt:lpstr>
      <vt:lpstr>PowerPoint Presentation</vt:lpstr>
      <vt:lpstr>Dataset Snapshot</vt:lpstr>
      <vt:lpstr>visualizations</vt:lpstr>
      <vt:lpstr>         Showing values of exercise minutes and stress level according to              student id </vt:lpstr>
      <vt:lpstr>Bar chart: Average of final _ grade by attendance _ percentage bins</vt:lpstr>
      <vt:lpstr>Focus Score Categories by Phone &amp; Gaming Levels </vt:lpstr>
      <vt:lpstr> Horizontal bar chart: Count of Gaming Level Column by Phone Level + Focus score Category </vt:lpstr>
      <vt:lpstr> Scatter plot visualization</vt:lpstr>
      <vt:lpstr>How  Breaks Relate to Final Grade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HP</cp:lastModifiedBy>
  <cp:revision>23</cp:revision>
  <dcterms:created xsi:type="dcterms:W3CDTF">2026-03-22T11:34:07Z</dcterms:created>
  <dcterms:modified xsi:type="dcterms:W3CDTF">2026-03-23T12:22:49Z</dcterms:modified>
</cp:coreProperties>
</file>